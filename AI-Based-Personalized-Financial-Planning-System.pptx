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Merriweather" panose="020F0502020204030204" pitchFamily="2" charset="0"/>
      <p:regular r:id="rId12"/>
    </p:embeddedFont>
    <p:embeddedFont>
      <p:font typeface="Merriweather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88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948359"/>
            <a:ext cx="6180181" cy="1124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AI-Based Personalized Financial Planning System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91700" y="3342977"/>
            <a:ext cx="5339423" cy="27344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9647" y="3396952"/>
            <a:ext cx="573311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B.E. COMPUTER SCIENCE ENGINEERING — ACADEMIC PROJECT REVIEW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62024" y="3818830"/>
            <a:ext cx="3129876" cy="1090712"/>
          </a:xfrm>
          <a:prstGeom prst="roundRect">
            <a:avLst>
              <a:gd name="adj" fmla="val 11881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341903" y="3998714"/>
            <a:ext cx="2770118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Nagulan 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341903" y="4459684"/>
            <a:ext cx="3379703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Roll No: </a:t>
            </a: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240701344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07706" y="3998714"/>
            <a:ext cx="2870525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Mohanprasath P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07706" y="4459684"/>
            <a:ext cx="3480110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Roll No: </a:t>
            </a: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240701328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295102"/>
            <a:ext cx="997123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27761" y="1349077"/>
            <a:ext cx="1390814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ABSTRACT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640483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AI-Based Personalized Financial Planning System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9814" y="2274788"/>
            <a:ext cx="10752067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Overview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9814" y="2825750"/>
            <a:ext cx="10752067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web-based financial planning platform powered by classical AI techniques. It is designed to be explainable, user-friendly, and practically actionable.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9814" y="3671491"/>
            <a:ext cx="10752067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Capabilities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19814" y="4222452"/>
            <a:ext cx="10752067" cy="1340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Tracks income, expenses, debts, assets, and goals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expert systems, fuzzy logic, and health scoring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Optimizes portfolios with a genetic algorithm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goal-oriented financial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849537"/>
            <a:ext cx="1871913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27761" y="1903512"/>
            <a:ext cx="226560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2194917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 in Personal Financial Planning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0138" y="3027164"/>
            <a:ext cx="5415819" cy="1981299"/>
          </a:xfrm>
          <a:prstGeom prst="roundRect">
            <a:avLst>
              <a:gd name="adj" fmla="val 6540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3207048"/>
            <a:ext cx="505606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Core Problem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0017" y="3668018"/>
            <a:ext cx="5056061" cy="1151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individuals lack structured tools to evaluate their </a:t>
            </a:r>
            <a:r>
              <a:rPr lang="en-US" sz="14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overall financial health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holistically. Balancing income, expenses, debt, savings, and investments at the same time is difficult without intelligent decision support.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3207048"/>
            <a:ext cx="5156468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Existing Tools Fall Short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21763" y="3668018"/>
            <a:ext cx="5156468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apps focus on tracking and reporting, not advising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Generic advice ignores personal goals and risk tolerance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Consumer tools rarely provide integrated, risk-aware reasoning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35583"/>
            <a:ext cx="1314020" cy="205085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00774" y="576064"/>
            <a:ext cx="1761684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LITERATURE SURVEY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9814" y="781149"/>
            <a:ext cx="10752067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Existing Approaches in Financial Decision Support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354733"/>
            <a:ext cx="10752067" cy="15883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798" y="1879898"/>
            <a:ext cx="10444100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Traditional Tools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3798" y="2151559"/>
            <a:ext cx="104441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Budgeting apps like Mint and YNAB focus on expense tracking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Dashboards summarize past activity but offer no forward-looking guidance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Spreadsheets require manual input and significant user expertise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044329"/>
            <a:ext cx="10752067" cy="15883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798" y="3569494"/>
            <a:ext cx="10444100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Classical AI Methods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73798" y="3841155"/>
            <a:ext cx="104441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Rule-based systems encode financial heuristics for structured decisions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Fuzzy logic models uncertainty in risk tolerance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Genetic algorithms support portfolio optimization and asset allocation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4733925"/>
            <a:ext cx="10752067" cy="15883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3798" y="5259090"/>
            <a:ext cx="10444100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Current Gap / Opportunity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73798" y="5530751"/>
            <a:ext cx="10444100" cy="637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Existing techniques work in isolation rather than as one integrated system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approaches often lack transparency and interpretability</a:t>
            </a:r>
            <a:endParaRPr lang="en-US" sz="1050" dirty="0"/>
          </a:p>
          <a:p>
            <a:pPr marL="213360" indent="-213360" algn="l">
              <a:lnSpc>
                <a:spcPct val="117000"/>
              </a:lnSpc>
              <a:buSzPct val="100000"/>
              <a:buChar char="•"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unified, explainable platform could combine profiling, scoring, risk analysis, and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69516"/>
            <a:ext cx="1327613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27761" y="623491"/>
            <a:ext cx="172130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914896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Existing Solutions Miss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19814" y="1949549"/>
            <a:ext cx="2208455" cy="1978323"/>
          </a:xfrm>
          <a:prstGeom prst="roundRect">
            <a:avLst>
              <a:gd name="adj" fmla="val 382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6043" y="2135783"/>
            <a:ext cx="1835997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Tracking Over Advising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06043" y="2877840"/>
            <a:ext cx="1835997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Historical tracking, not forward-looking advice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148" y="1949549"/>
            <a:ext cx="2208554" cy="1978323"/>
          </a:xfrm>
          <a:prstGeom prst="roundRect">
            <a:avLst>
              <a:gd name="adj" fmla="val 382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4377" y="2135783"/>
            <a:ext cx="1836096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Siloed Data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294377" y="2596753"/>
            <a:ext cx="1836096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Profiles, goals, risk, and optimization stay separate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9814" y="4107755"/>
            <a:ext cx="2208455" cy="1978323"/>
          </a:xfrm>
          <a:prstGeom prst="roundRect">
            <a:avLst>
              <a:gd name="adj" fmla="val 382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6043" y="4293989"/>
            <a:ext cx="1835997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Transparency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06043" y="5036046"/>
            <a:ext cx="1835997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Recommendation logic is rarely explained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148" y="4107755"/>
            <a:ext cx="2208554" cy="1978323"/>
          </a:xfrm>
          <a:prstGeom prst="roundRect">
            <a:avLst>
              <a:gd name="adj" fmla="val 382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4377" y="4293989"/>
            <a:ext cx="1836096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Fragmented AI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294377" y="4754959"/>
            <a:ext cx="1836096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Rules, fuzzy risk, and optimization are not unified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2183" y="1949549"/>
            <a:ext cx="5715948" cy="1277541"/>
          </a:xfrm>
          <a:prstGeom prst="roundRect">
            <a:avLst>
              <a:gd name="adj" fmla="val 5917"/>
            </a:avLst>
          </a:prstGeom>
          <a:solidFill>
            <a:srgbClr val="003180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062" y="2220119"/>
            <a:ext cx="224923" cy="1798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346865" y="2156420"/>
            <a:ext cx="4951388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Identified Research Need:</a:t>
            </a:r>
            <a:r>
              <a:rPr lang="en-US" sz="1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One transparent platform for profile management, explainable reasoning, risk evaluation, and portfolio optimization.</a:t>
            </a:r>
            <a:endParaRPr lang="en-US" sz="14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2183" y="3429496"/>
            <a:ext cx="5715948" cy="144740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069059" y="3634780"/>
            <a:ext cx="5203794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Project's Contribution</a:t>
            </a:r>
            <a:endParaRPr lang="en-US" sz="1750" dirty="0"/>
          </a:p>
        </p:txBody>
      </p:sp>
      <p:sp>
        <p:nvSpPr>
          <p:cNvPr id="22" name="Text 18"/>
          <p:cNvSpPr/>
          <p:nvPr/>
        </p:nvSpPr>
        <p:spPr>
          <a:xfrm>
            <a:off x="6069059" y="4095750"/>
            <a:ext cx="5203794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Integrated, explainable, personalized financial planning with classical AI.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40197"/>
            <a:ext cx="1080465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27761" y="994172"/>
            <a:ext cx="147415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285577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Objectives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19814" y="2117824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281" y="2151509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04595" y="2179638"/>
            <a:ext cx="4678742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Intelligent Financial Assessment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304595" y="2568674"/>
            <a:ext cx="4678742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AI-based assessment of income, expenses, debt, and assets.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8260" y="2117824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75727" y="2151509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93040" y="2179638"/>
            <a:ext cx="467884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Profile Management &amp; Goal Tracking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793040" y="2568674"/>
            <a:ext cx="4678841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Structured profiles with goal planning and progress monitoring.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9814" y="3504406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281" y="3538091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04595" y="3566220"/>
            <a:ext cx="4678742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 Scoring &amp; Risk Profiling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304595" y="3955256"/>
            <a:ext cx="4678742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Quantified financial health scores using expert rules and fuzzy logic.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8260" y="3504406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5727" y="3538091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793040" y="3566220"/>
            <a:ext cx="467884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Personalized Investment Strategy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793040" y="3955256"/>
            <a:ext cx="4678841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Tailored recommendations based on income, debt, expenses, and risk tolerance.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9814" y="4890988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281" y="4924673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04595" y="4952802"/>
            <a:ext cx="4678742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Genetic Algorithm Portfolio Optimization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304595" y="5341838"/>
            <a:ext cx="4678742" cy="575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DEAP-based allocation optimization within financial constraints.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08260" y="4890988"/>
            <a:ext cx="404902" cy="40491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5727" y="4924673"/>
            <a:ext cx="269868" cy="3374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793040" y="4952802"/>
            <a:ext cx="4678841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Explainable Financial Reports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793040" y="5341838"/>
            <a:ext cx="467884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 reports with actionable insights and PDF export.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705644"/>
            <a:ext cx="2663957" cy="218777"/>
          </a:xfrm>
          <a:prstGeom prst="roundRect">
            <a:avLst>
              <a:gd name="adj" fmla="val 22113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06132" y="748804"/>
            <a:ext cx="3100905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ARCHITECTURE &amp;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9814" y="970459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Proposed 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16133" y="1593155"/>
            <a:ext cx="3742239" cy="4559102"/>
          </a:xfrm>
          <a:prstGeom prst="roundRect">
            <a:avLst>
              <a:gd name="adj" fmla="val 2770"/>
            </a:avLst>
          </a:prstGeom>
          <a:solidFill>
            <a:srgbClr val="1E3A8A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60096" y="1708249"/>
            <a:ext cx="3454314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0096" y="2048272"/>
            <a:ext cx="3454314" cy="1968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endParaRPr lang="en-US" sz="1100" dirty="0"/>
          </a:p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React · Vite · Tailwind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</a:t>
            </a:r>
            <a:endParaRPr lang="en-US" sz="1100" dirty="0"/>
          </a:p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FastAPI · Python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Database</a:t>
            </a:r>
            <a:endParaRPr lang="en-US" sz="1100" dirty="0"/>
          </a:p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MongoDB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 Tools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NumPy · SciPy · scikit-fuzzy · DEAP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0096" y="4182666"/>
            <a:ext cx="3454314" cy="1905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0096" y="4367213"/>
            <a:ext cx="3454314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AI Modules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0096" y="4707235"/>
            <a:ext cx="3454314" cy="1404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Expert System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Rule-based evaluation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Fuzzy Logic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Risk profiling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Health Scoring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Financial wellness score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Capacity Analysis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Savings and investment capacity</a:t>
            </a:r>
            <a:endParaRPr lang="en-US" sz="1100" dirty="0"/>
          </a:p>
          <a:p>
            <a:pPr marL="223520" indent="-223520" algn="l">
              <a:lnSpc>
                <a:spcPct val="120000"/>
              </a:lnSpc>
              <a:buSzPct val="100000"/>
              <a:buChar char="•"/>
            </a:pP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Genetic Algorithm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Portfolio optimization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267" y="1722735"/>
            <a:ext cx="5492613" cy="36617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604441"/>
            <a:ext cx="1188115" cy="205085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800774" y="644922"/>
            <a:ext cx="1635779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19814" y="850007"/>
            <a:ext cx="10752067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Software, System Requirements &amp; Implementation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19814" y="1524794"/>
            <a:ext cx="5211434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Implementation Features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849537"/>
            <a:ext cx="2555117" cy="1208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996" y="2003524"/>
            <a:ext cx="2170951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Authentication &amp; Security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9996" y="2315666"/>
            <a:ext cx="2170951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JWT auth, authorization, and secure sessions.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6131" y="1849537"/>
            <a:ext cx="2555117" cy="12088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6313" y="2003524"/>
            <a:ext cx="2170951" cy="421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Profile &amp; Goal Management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06313" y="2526605"/>
            <a:ext cx="2170951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financial profiles, set goals, and track progress.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3159621"/>
            <a:ext cx="2555117" cy="13977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9996" y="3313609"/>
            <a:ext cx="2170951" cy="421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Recommendation Engine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49996" y="3836690"/>
            <a:ext cx="217095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Risk assessment, health scoring, and personalized recommendations.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6131" y="3159621"/>
            <a:ext cx="2555117" cy="13977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06313" y="3313609"/>
            <a:ext cx="2170951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Scenario Simulation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606313" y="3625751"/>
            <a:ext cx="2170951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What-if modeling to compare financial decisions.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4658618"/>
            <a:ext cx="2555117" cy="9979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9996" y="4812605"/>
            <a:ext cx="2170951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Portfolio &amp; Reporting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949996" y="5124748"/>
            <a:ext cx="2170951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Optimized allocation, monthly reports, and PDF export.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266797" y="1524794"/>
            <a:ext cx="5211434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Software Stack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6797" y="1849537"/>
          <a:ext cx="9143771" cy="914400"/>
        </p:xfrm>
        <a:graphic>
          <a:graphicData uri="http://schemas.openxmlformats.org/drawingml/2006/table">
            <a:tbl>
              <a:tblPr/>
              <a:tblGrid>
                <a:gridCol w="2605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Layer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Technology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Runtime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Python 3.10+, Node.js 18+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Frontend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React.js, Vite, Tailwind CSS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Backend API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FastAPI, Pydantic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Database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MongoDB 7+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2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AI Libraries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NumPy, SciPy, scikit-fuzzy, DEAP</a:t>
                      </a:r>
                      <a:endParaRPr lang="en-US" sz="10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34983" marR="13498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6266797" y="2167323"/>
            <a:ext cx="5211434" cy="843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16"/>
          <p:cNvSpPr/>
          <p:nvPr/>
        </p:nvSpPr>
        <p:spPr>
          <a:xfrm>
            <a:off x="6266797" y="2496721"/>
            <a:ext cx="5211434" cy="843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17"/>
          <p:cNvSpPr/>
          <p:nvPr/>
        </p:nvSpPr>
        <p:spPr>
          <a:xfrm>
            <a:off x="6266797" y="2826119"/>
            <a:ext cx="5211434" cy="843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18"/>
          <p:cNvSpPr/>
          <p:nvPr/>
        </p:nvSpPr>
        <p:spPr>
          <a:xfrm>
            <a:off x="6266797" y="3155517"/>
            <a:ext cx="5211434" cy="843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6266797" y="3484915"/>
            <a:ext cx="5211434" cy="843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20"/>
          <p:cNvSpPr/>
          <p:nvPr/>
        </p:nvSpPr>
        <p:spPr>
          <a:xfrm>
            <a:off x="6266797" y="3979863"/>
            <a:ext cx="5211434" cy="1905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6266797" y="4146451"/>
            <a:ext cx="5211434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266797" y="4471194"/>
            <a:ext cx="2555117" cy="783630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408081" y="4612481"/>
            <a:ext cx="2272549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RAM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08081" y="4924623"/>
            <a:ext cx="227254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 GB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923114" y="4471194"/>
            <a:ext cx="2555117" cy="783630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64398" y="4612481"/>
            <a:ext cx="2272549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Browser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9064398" y="4924623"/>
            <a:ext cx="227254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Modern browser + internet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266797" y="5356027"/>
            <a:ext cx="5211434" cy="783630"/>
          </a:xfrm>
          <a:prstGeom prst="roundRect">
            <a:avLst>
              <a:gd name="adj" fmla="val 72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408081" y="5497314"/>
            <a:ext cx="4928866" cy="2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408081" y="5809456"/>
            <a:ext cx="492886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VS Code or compatible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25264"/>
            <a:ext cx="1075008" cy="177602"/>
          </a:xfrm>
          <a:prstGeom prst="roundRect">
            <a:avLst>
              <a:gd name="adj" fmla="val 22132"/>
            </a:avLst>
          </a:prstGeom>
          <a:solidFill>
            <a:srgbClr val="001D4D"/>
          </a:solidFill>
          <a:ln/>
        </p:spPr>
      </p:sp>
      <p:sp>
        <p:nvSpPr>
          <p:cNvPr id="3" name="Text 1"/>
          <p:cNvSpPr/>
          <p:nvPr/>
        </p:nvSpPr>
        <p:spPr>
          <a:xfrm>
            <a:off x="789960" y="560288"/>
            <a:ext cx="1544301" cy="10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&amp; 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19814" y="733227"/>
            <a:ext cx="10752067" cy="36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Output Demonstrations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298377"/>
            <a:ext cx="3401630" cy="17771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9814" y="3161010"/>
            <a:ext cx="5233360" cy="30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Financial Health Dashboard</a:t>
            </a: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Personalized metrics, key indicators, and goal progress at a glance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870" y="1298377"/>
            <a:ext cx="3401630" cy="17149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4870" y="3098899"/>
            <a:ext cx="5233360" cy="30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Risk Profile &amp; Health Score</a:t>
            </a: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Fuzzy logic-driven risk assessment with explainable scoring output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4" y="3709194"/>
            <a:ext cx="3401630" cy="17877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" y="5582444"/>
            <a:ext cx="5233360" cy="30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Portfolio Allocation &amp; Recommendations</a:t>
            </a: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Genetic algorithm-optimized investment breakdown with reasoning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870" y="3709194"/>
            <a:ext cx="3401630" cy="21607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44870" y="5955506"/>
            <a:ext cx="5233360" cy="30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Monthly Report &amp; PDF Export</a:t>
            </a: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Actionable insights with scenario simulation and offline-accessible reports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Merriweather</vt:lpstr>
      <vt:lpstr>Merriweather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NATARAJAN S</cp:lastModifiedBy>
  <cp:revision>2</cp:revision>
  <dcterms:created xsi:type="dcterms:W3CDTF">2026-09-14T18:51:59Z</dcterms:created>
  <dcterms:modified xsi:type="dcterms:W3CDTF">2026-09-14T18:57:21Z</dcterms:modified>
</cp:coreProperties>
</file>